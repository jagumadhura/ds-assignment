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  <p:sldId id="9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rajagu78@outlook.com" userId="9e0fc8bb14ad4e2b" providerId="LiveId" clId="{744EBE75-0A7D-476D-8278-BD28FD27E00E}"/>
    <pc:docChg chg="undo custSel modSld">
      <pc:chgData name="madhurajagu78@outlook.com" userId="9e0fc8bb14ad4e2b" providerId="LiveId" clId="{744EBE75-0A7D-476D-8278-BD28FD27E00E}" dt="2026-09-11T03:33:04.877" v="152" actId="255"/>
      <pc:docMkLst>
        <pc:docMk/>
      </pc:docMkLst>
      <pc:sldChg chg="modSp mod">
        <pc:chgData name="madhurajagu78@outlook.com" userId="9e0fc8bb14ad4e2b" providerId="LiveId" clId="{744EBE75-0A7D-476D-8278-BD28FD27E00E}" dt="2026-09-11T03:26:44.737" v="2" actId="123"/>
        <pc:sldMkLst>
          <pc:docMk/>
          <pc:sldMk cId="1843937772" sldId="257"/>
        </pc:sldMkLst>
        <pc:spChg chg="mod">
          <ac:chgData name="madhurajagu78@outlook.com" userId="9e0fc8bb14ad4e2b" providerId="LiveId" clId="{744EBE75-0A7D-476D-8278-BD28FD27E00E}" dt="2026-09-11T03:26:44.737" v="2" actId="123"/>
          <ac:spMkLst>
            <pc:docMk/>
            <pc:sldMk cId="1843937772" sldId="257"/>
            <ac:spMk id="4" creationId="{DA843298-5300-E2A7-1074-C2023F4C97B7}"/>
          </ac:spMkLst>
        </pc:spChg>
      </pc:sldChg>
      <pc:sldChg chg="modSp mod">
        <pc:chgData name="madhurajagu78@outlook.com" userId="9e0fc8bb14ad4e2b" providerId="LiveId" clId="{744EBE75-0A7D-476D-8278-BD28FD27E00E}" dt="2026-09-11T03:27:15.423" v="7" actId="123"/>
        <pc:sldMkLst>
          <pc:docMk/>
          <pc:sldMk cId="2065876014" sldId="258"/>
        </pc:sldMkLst>
        <pc:spChg chg="mod">
          <ac:chgData name="madhurajagu78@outlook.com" userId="9e0fc8bb14ad4e2b" providerId="LiveId" clId="{744EBE75-0A7D-476D-8278-BD28FD27E00E}" dt="2026-09-11T03:27:15.423" v="7" actId="123"/>
          <ac:spMkLst>
            <pc:docMk/>
            <pc:sldMk cId="2065876014" sldId="258"/>
            <ac:spMk id="4" creationId="{A791DF2F-8A4F-E34F-D54D-4E3AEA4391E4}"/>
          </ac:spMkLst>
        </pc:spChg>
      </pc:sldChg>
      <pc:sldChg chg="modSp mod">
        <pc:chgData name="madhurajagu78@outlook.com" userId="9e0fc8bb14ad4e2b" providerId="LiveId" clId="{744EBE75-0A7D-476D-8278-BD28FD27E00E}" dt="2026-09-11T03:27:23.417" v="9" actId="1036"/>
        <pc:sldMkLst>
          <pc:docMk/>
          <pc:sldMk cId="3524135319" sldId="259"/>
        </pc:sldMkLst>
        <pc:spChg chg="mod">
          <ac:chgData name="madhurajagu78@outlook.com" userId="9e0fc8bb14ad4e2b" providerId="LiveId" clId="{744EBE75-0A7D-476D-8278-BD28FD27E00E}" dt="2026-09-11T03:27:23.417" v="9" actId="1036"/>
          <ac:spMkLst>
            <pc:docMk/>
            <pc:sldMk cId="3524135319" sldId="259"/>
            <ac:spMk id="4" creationId="{DC67746B-C297-7E4A-F5F6-B8D9929A43FC}"/>
          </ac:spMkLst>
        </pc:spChg>
      </pc:sldChg>
      <pc:sldChg chg="modSp mod">
        <pc:chgData name="madhurajagu78@outlook.com" userId="9e0fc8bb14ad4e2b" providerId="LiveId" clId="{744EBE75-0A7D-476D-8278-BD28FD27E00E}" dt="2026-09-11T03:27:34.185" v="11" actId="120"/>
        <pc:sldMkLst>
          <pc:docMk/>
          <pc:sldMk cId="4118855268" sldId="260"/>
        </pc:sldMkLst>
        <pc:spChg chg="mod">
          <ac:chgData name="madhurajagu78@outlook.com" userId="9e0fc8bb14ad4e2b" providerId="LiveId" clId="{744EBE75-0A7D-476D-8278-BD28FD27E00E}" dt="2026-09-11T03:27:34.185" v="11" actId="120"/>
          <ac:spMkLst>
            <pc:docMk/>
            <pc:sldMk cId="4118855268" sldId="260"/>
            <ac:spMk id="6" creationId="{72784DF8-3AE7-395D-22A2-227AA2077B79}"/>
          </ac:spMkLst>
        </pc:spChg>
      </pc:sldChg>
      <pc:sldChg chg="delSp mod">
        <pc:chgData name="madhurajagu78@outlook.com" userId="9e0fc8bb14ad4e2b" providerId="LiveId" clId="{744EBE75-0A7D-476D-8278-BD28FD27E00E}" dt="2026-09-10T05:31:00.901" v="0" actId="478"/>
        <pc:sldMkLst>
          <pc:docMk/>
          <pc:sldMk cId="2247602601" sldId="262"/>
        </pc:sldMkLst>
        <pc:spChg chg="del">
          <ac:chgData name="madhurajagu78@outlook.com" userId="9e0fc8bb14ad4e2b" providerId="LiveId" clId="{744EBE75-0A7D-476D-8278-BD28FD27E00E}" dt="2026-09-10T05:31:00.901" v="0" actId="478"/>
          <ac:spMkLst>
            <pc:docMk/>
            <pc:sldMk cId="2247602601" sldId="262"/>
            <ac:spMk id="16" creationId="{500C0830-A1CA-96AE-68D2-18C57ABE4802}"/>
          </ac:spMkLst>
        </pc:spChg>
      </pc:sldChg>
      <pc:sldChg chg="addSp delSp modSp mod">
        <pc:chgData name="madhurajagu78@outlook.com" userId="9e0fc8bb14ad4e2b" providerId="LiveId" clId="{744EBE75-0A7D-476D-8278-BD28FD27E00E}" dt="2026-09-11T03:33:04.877" v="152" actId="255"/>
        <pc:sldMkLst>
          <pc:docMk/>
          <pc:sldMk cId="2747969496" sldId="707"/>
        </pc:sldMkLst>
        <pc:spChg chg="add mod">
          <ac:chgData name="madhurajagu78@outlook.com" userId="9e0fc8bb14ad4e2b" providerId="LiveId" clId="{744EBE75-0A7D-476D-8278-BD28FD27E00E}" dt="2026-09-11T03:33:04.877" v="152" actId="255"/>
          <ac:spMkLst>
            <pc:docMk/>
            <pc:sldMk cId="2747969496" sldId="707"/>
            <ac:spMk id="3" creationId="{8A078F43-6E5E-54FB-D49A-6DEDCAF2364A}"/>
          </ac:spMkLst>
        </pc:spChg>
        <pc:spChg chg="del mod">
          <ac:chgData name="madhurajagu78@outlook.com" userId="9e0fc8bb14ad4e2b" providerId="LiveId" clId="{744EBE75-0A7D-476D-8278-BD28FD27E00E}" dt="2026-09-11T03:31:02.500" v="48" actId="478"/>
          <ac:spMkLst>
            <pc:docMk/>
            <pc:sldMk cId="2747969496" sldId="707"/>
            <ac:spMk id="6" creationId="{7CD51876-AB11-F1CF-A76E-1EAB42852DAB}"/>
          </ac:spMkLst>
        </pc:spChg>
        <pc:spChg chg="mod">
          <ac:chgData name="madhurajagu78@outlook.com" userId="9e0fc8bb14ad4e2b" providerId="LiveId" clId="{744EBE75-0A7D-476D-8278-BD28FD27E00E}" dt="2026-09-11T03:28:26.594" v="16" actId="207"/>
          <ac:spMkLst>
            <pc:docMk/>
            <pc:sldMk cId="2747969496" sldId="707"/>
            <ac:spMk id="17" creationId="{46FED941-23F5-8B90-3E01-91A0BDDBC2F2}"/>
          </ac:spMkLst>
        </pc:spChg>
        <pc:spChg chg="mod">
          <ac:chgData name="madhurajagu78@outlook.com" userId="9e0fc8bb14ad4e2b" providerId="LiveId" clId="{744EBE75-0A7D-476D-8278-BD28FD27E00E}" dt="2026-09-11T03:29:41.410" v="23" actId="1076"/>
          <ac:spMkLst>
            <pc:docMk/>
            <pc:sldMk cId="2747969496" sldId="707"/>
            <ac:spMk id="19" creationId="{5530BDCF-279D-6999-AC0C-59FBC358E34D}"/>
          </ac:spMkLst>
        </pc:spChg>
        <pc:spChg chg="del">
          <ac:chgData name="madhurajagu78@outlook.com" userId="9e0fc8bb14ad4e2b" providerId="LiveId" clId="{744EBE75-0A7D-476D-8278-BD28FD27E00E}" dt="2026-09-11T03:29:19.656" v="19" actId="478"/>
          <ac:spMkLst>
            <pc:docMk/>
            <pc:sldMk cId="2747969496" sldId="707"/>
            <ac:spMk id="21" creationId="{DE22E21F-BB17-2731-CBCA-C1694B3A0B4B}"/>
          </ac:spMkLst>
        </pc:spChg>
        <pc:spChg chg="del">
          <ac:chgData name="madhurajagu78@outlook.com" userId="9e0fc8bb14ad4e2b" providerId="LiveId" clId="{744EBE75-0A7D-476D-8278-BD28FD27E00E}" dt="2026-09-11T03:29:54.119" v="25" actId="478"/>
          <ac:spMkLst>
            <pc:docMk/>
            <pc:sldMk cId="2747969496" sldId="707"/>
            <ac:spMk id="22" creationId="{6C792DA3-F484-948A-E346-F158FE24CE3F}"/>
          </ac:spMkLst>
        </pc:spChg>
        <pc:spChg chg="del">
          <ac:chgData name="madhurajagu78@outlook.com" userId="9e0fc8bb14ad4e2b" providerId="LiveId" clId="{744EBE75-0A7D-476D-8278-BD28FD27E00E}" dt="2026-09-11T03:29:29.050" v="20" actId="478"/>
          <ac:spMkLst>
            <pc:docMk/>
            <pc:sldMk cId="2747969496" sldId="707"/>
            <ac:spMk id="24" creationId="{957E2443-43F4-3FA3-6C83-796D6B456220}"/>
          </ac:spMkLst>
        </pc:spChg>
        <pc:spChg chg="mod">
          <ac:chgData name="madhurajagu78@outlook.com" userId="9e0fc8bb14ad4e2b" providerId="LiveId" clId="{744EBE75-0A7D-476D-8278-BD28FD27E00E}" dt="2026-09-11T03:29:34.319" v="21" actId="1076"/>
          <ac:spMkLst>
            <pc:docMk/>
            <pc:sldMk cId="2747969496" sldId="707"/>
            <ac:spMk id="25" creationId="{D0C41E3E-9E6C-5957-F435-46EB953B9BCE}"/>
          </ac:spMkLst>
        </pc:spChg>
        <pc:spChg chg="del">
          <ac:chgData name="madhurajagu78@outlook.com" userId="9e0fc8bb14ad4e2b" providerId="LiveId" clId="{744EBE75-0A7D-476D-8278-BD28FD27E00E}" dt="2026-09-11T03:30:05.830" v="26" actId="478"/>
          <ac:spMkLst>
            <pc:docMk/>
            <pc:sldMk cId="2747969496" sldId="707"/>
            <ac:spMk id="31" creationId="{4D713724-2EA7-CA04-47B9-F63B3DAC496D}"/>
          </ac:spMkLst>
        </pc:spChg>
        <pc:spChg chg="mod">
          <ac:chgData name="madhurajagu78@outlook.com" userId="9e0fc8bb14ad4e2b" providerId="LiveId" clId="{744EBE75-0A7D-476D-8278-BD28FD27E00E}" dt="2026-09-11T03:30:49.270" v="44" actId="1076"/>
          <ac:spMkLst>
            <pc:docMk/>
            <pc:sldMk cId="2747969496" sldId="707"/>
            <ac:spMk id="35" creationId="{52A3BAA6-9EF7-9BA0-D9AB-50E551A2C106}"/>
          </ac:spMkLst>
        </pc:spChg>
        <pc:grpChg chg="del mod">
          <ac:chgData name="madhurajagu78@outlook.com" userId="9e0fc8bb14ad4e2b" providerId="LiveId" clId="{744EBE75-0A7D-476D-8278-BD28FD27E00E}" dt="2026-09-11T03:30:55.974" v="45" actId="478"/>
          <ac:grpSpMkLst>
            <pc:docMk/>
            <pc:sldMk cId="2747969496" sldId="707"/>
            <ac:grpSpMk id="8" creationId="{B25CDE63-8DDC-4AC4-7713-9D89D6D0F4B1}"/>
          </ac:grpSpMkLst>
        </pc:grpChg>
        <pc:grpChg chg="del mod">
          <ac:chgData name="madhurajagu78@outlook.com" userId="9e0fc8bb14ad4e2b" providerId="LiveId" clId="{744EBE75-0A7D-476D-8278-BD28FD27E00E}" dt="2026-09-11T03:30:58.272" v="46" actId="478"/>
          <ac:grpSpMkLst>
            <pc:docMk/>
            <pc:sldMk cId="2747969496" sldId="707"/>
            <ac:grpSpMk id="13" creationId="{C3A38BAE-1DFA-C06A-A063-264D399FF960}"/>
          </ac:grpSpMkLst>
        </pc:grpChg>
        <pc:picChg chg="del">
          <ac:chgData name="madhurajagu78@outlook.com" userId="9e0fc8bb14ad4e2b" providerId="LiveId" clId="{744EBE75-0A7D-476D-8278-BD28FD27E00E}" dt="2026-09-11T03:29:36.839" v="22" actId="478"/>
          <ac:picMkLst>
            <pc:docMk/>
            <pc:sldMk cId="2747969496" sldId="707"/>
            <ac:picMk id="23" creationId="{39DDE777-7E39-DB0C-CACE-95CD25498E96}"/>
          </ac:picMkLst>
        </pc:picChg>
        <pc:picChg chg="del">
          <ac:chgData name="madhurajagu78@outlook.com" userId="9e0fc8bb14ad4e2b" providerId="LiveId" clId="{744EBE75-0A7D-476D-8278-BD28FD27E00E}" dt="2026-09-11T03:30:22.726" v="29" actId="478"/>
          <ac:picMkLst>
            <pc:docMk/>
            <pc:sldMk cId="2747969496" sldId="707"/>
            <ac:picMk id="34" creationId="{E837446A-1647-361D-699F-A8545A48B44A}"/>
          </ac:picMkLst>
        </pc:picChg>
        <pc:picChg chg="mod">
          <ac:chgData name="madhurajagu78@outlook.com" userId="9e0fc8bb14ad4e2b" providerId="LiveId" clId="{744EBE75-0A7D-476D-8278-BD28FD27E00E}" dt="2026-09-11T03:30:30" v="31" actId="1076"/>
          <ac:picMkLst>
            <pc:docMk/>
            <pc:sldMk cId="2747969496" sldId="707"/>
            <ac:picMk id="41" creationId="{7B0FD951-BFA0-1228-E572-2BFE866AEE71}"/>
          </ac:picMkLst>
        </pc:picChg>
      </pc:sldChg>
      <pc:sldChg chg="modSp mod">
        <pc:chgData name="madhurajagu78@outlook.com" userId="9e0fc8bb14ad4e2b" providerId="LiveId" clId="{744EBE75-0A7D-476D-8278-BD28FD27E00E}" dt="2026-09-11T03:27:08.844" v="6" actId="120"/>
        <pc:sldMkLst>
          <pc:docMk/>
          <pc:sldMk cId="3029277067" sldId="902"/>
        </pc:sldMkLst>
        <pc:graphicFrameChg chg="modGraphic">
          <ac:chgData name="madhurajagu78@outlook.com" userId="9e0fc8bb14ad4e2b" providerId="LiveId" clId="{744EBE75-0A7D-476D-8278-BD28FD27E00E}" dt="2026-09-11T03:27:08.844" v="6" actId="120"/>
          <ac:graphicFrameMkLst>
            <pc:docMk/>
            <pc:sldMk cId="3029277067" sldId="902"/>
            <ac:graphicFrameMk id="4" creationId="{AACD11AD-3AF5-B626-2B60-0567E4585BB7}"/>
          </ac:graphicFrameMkLst>
        </pc:graphicFrameChg>
      </pc:sldChg>
      <pc:sldChg chg="modSp mod">
        <pc:chgData name="madhurajagu78@outlook.com" userId="9e0fc8bb14ad4e2b" providerId="LiveId" clId="{744EBE75-0A7D-476D-8278-BD28FD27E00E}" dt="2026-09-11T03:26:52.892" v="4" actId="123"/>
        <pc:sldMkLst>
          <pc:docMk/>
          <pc:sldMk cId="3917782940" sldId="903"/>
        </pc:sldMkLst>
        <pc:spChg chg="mod">
          <ac:chgData name="madhurajagu78@outlook.com" userId="9e0fc8bb14ad4e2b" providerId="LiveId" clId="{744EBE75-0A7D-476D-8278-BD28FD27E00E}" dt="2026-09-11T03:26:52.892" v="4" actId="123"/>
          <ac:spMkLst>
            <pc:docMk/>
            <pc:sldMk cId="3917782940" sldId="903"/>
            <ac:spMk id="4" creationId="{9C71F524-2511-8EE5-76D3-3A37BF59F718}"/>
          </ac:spMkLst>
        </pc:spChg>
      </pc:sldChg>
      <pc:sldChg chg="modSp mod">
        <pc:chgData name="madhurajagu78@outlook.com" userId="9e0fc8bb14ad4e2b" providerId="LiveId" clId="{744EBE75-0A7D-476D-8278-BD28FD27E00E}" dt="2026-09-11T03:27:42.891" v="12" actId="123"/>
        <pc:sldMkLst>
          <pc:docMk/>
          <pc:sldMk cId="916655988" sldId="904"/>
        </pc:sldMkLst>
        <pc:spChg chg="mod">
          <ac:chgData name="madhurajagu78@outlook.com" userId="9e0fc8bb14ad4e2b" providerId="LiveId" clId="{744EBE75-0A7D-476D-8278-BD28FD27E00E}" dt="2026-09-11T03:27:42.891" v="12" actId="123"/>
          <ac:spMkLst>
            <pc:docMk/>
            <pc:sldMk cId="916655988" sldId="904"/>
            <ac:spMk id="3" creationId="{18A2B096-5A5F-1AFE-BD84-2F316816C097}"/>
          </ac:spMkLst>
        </pc:spChg>
      </pc:sldChg>
      <pc:sldChg chg="modSp mod">
        <pc:chgData name="madhurajagu78@outlook.com" userId="9e0fc8bb14ad4e2b" providerId="LiveId" clId="{744EBE75-0A7D-476D-8278-BD28FD27E00E}" dt="2026-09-11T03:27:52.873" v="13" actId="123"/>
        <pc:sldMkLst>
          <pc:docMk/>
          <pc:sldMk cId="2463525368" sldId="905"/>
        </pc:sldMkLst>
        <pc:spChg chg="mod">
          <ac:chgData name="madhurajagu78@outlook.com" userId="9e0fc8bb14ad4e2b" providerId="LiveId" clId="{744EBE75-0A7D-476D-8278-BD28FD27E00E}" dt="2026-09-11T03:27:52.873" v="13" actId="123"/>
          <ac:spMkLst>
            <pc:docMk/>
            <pc:sldMk cId="2463525368" sldId="905"/>
            <ac:spMk id="3" creationId="{CBCAF5F5-7AA8-2EF4-2CC5-EF4166DD065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11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571893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J.Madhura-2420030535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Ch.Srikar-24200610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Lokesh Reddy-2420030534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844658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Mrs.N.Sunanda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Asst.Professor</a:t>
                      </a: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                                                    </a:t>
            </a:r>
            <a:r>
              <a:rPr lang="en-IN" sz="4000" b="1" dirty="0"/>
              <a:t>Credit Risk Prediction System</a:t>
            </a:r>
            <a:endParaRPr lang="en-IN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Review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078F43-6E5E-54FB-D49A-6DEDCAF2364A}"/>
              </a:ext>
            </a:extLst>
          </p:cNvPr>
          <p:cNvSpPr txBox="1"/>
          <p:nvPr/>
        </p:nvSpPr>
        <p:spPr>
          <a:xfrm>
            <a:off x="678426" y="983226"/>
            <a:ext cx="846557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/>
              <a:t>Problem Statement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/>
              <a:t>Objectives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/>
              <a:t>Literature Survey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/>
              <a:t>Problem gap identification</a:t>
            </a:r>
            <a:endParaRPr lang="en-IN" sz="32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/>
              <a:t>Innovation, Creativity and Novelty</a:t>
            </a:r>
            <a:r>
              <a:rPr lang="en-IN" sz="3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/>
              <a:t>Feasibility and Project Plan</a:t>
            </a:r>
            <a:r>
              <a:rPr lang="en-IN" sz="3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/>
              <a:t>Expected Results</a:t>
            </a:r>
            <a:r>
              <a:rPr lang="en-IN" sz="32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3200" b="1" dirty="0"/>
              <a:t>Conclusion &amp; Future Work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677265" y="80669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PROBLEM STATEMENT</a:t>
            </a:r>
            <a:endParaRPr lang="en-US" sz="36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843298-5300-E2A7-1074-C2023F4C97B7}"/>
              </a:ext>
            </a:extLst>
          </p:cNvPr>
          <p:cNvSpPr txBox="1"/>
          <p:nvPr/>
        </p:nvSpPr>
        <p:spPr>
          <a:xfrm>
            <a:off x="1366684" y="2136338"/>
            <a:ext cx="965527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Credit risk assessment is an important process in the banking and financial sector.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Traditional credit evaluation often depends on </a:t>
            </a:r>
            <a:r>
              <a:rPr lang="en-IN" b="1" dirty="0"/>
              <a:t>manual verification and predefined rules</a:t>
            </a:r>
            <a:r>
              <a:rPr lang="en-IN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Manual assessment can be </a:t>
            </a:r>
            <a:r>
              <a:rPr lang="en-IN" b="1" dirty="0"/>
              <a:t>time-consuming</a:t>
            </a:r>
            <a:r>
              <a:rPr lang="en-IN" dirty="0"/>
              <a:t> when dealing with a large number of loan applications.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Traditional methods may not effectively identify </a:t>
            </a:r>
            <a:r>
              <a:rPr lang="en-IN" b="1" dirty="0"/>
              <a:t>hidden patterns in customer and loan data</a:t>
            </a:r>
            <a:r>
              <a:rPr lang="en-IN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Incorrect credit decisions can lead to </a:t>
            </a:r>
            <a:r>
              <a:rPr lang="en-IN" b="1" dirty="0"/>
              <a:t>loan defaults and financial losses</a:t>
            </a:r>
            <a:r>
              <a:rPr lang="en-IN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Therefore, there is a need for a </a:t>
            </a:r>
            <a:r>
              <a:rPr lang="en-IN" b="1" dirty="0"/>
              <a:t>data-driven machine learning system</a:t>
            </a:r>
            <a:r>
              <a:rPr lang="en-IN" dirty="0"/>
              <a:t> that can help assess the creditworthiness of loan applicants.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The proposed system predicts applicants as </a:t>
            </a:r>
            <a:r>
              <a:rPr lang="en-IN" b="1" dirty="0"/>
              <a:t>Low Risk, Medium Risk, or High Risk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71F524-2511-8EE5-76D3-3A37BF59F718}"/>
              </a:ext>
            </a:extLst>
          </p:cNvPr>
          <p:cNvSpPr txBox="1"/>
          <p:nvPr/>
        </p:nvSpPr>
        <p:spPr>
          <a:xfrm>
            <a:off x="1356852" y="1228397"/>
            <a:ext cx="1029437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 dirty="0"/>
              <a:t>To develop a </a:t>
            </a:r>
            <a:r>
              <a:rPr lang="en-IN" sz="1600" b="1" dirty="0"/>
              <a:t>machine learning-based Credit Risk Prediction System</a:t>
            </a:r>
            <a:r>
              <a:rPr lang="en-IN" sz="1600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 dirty="0"/>
              <a:t>To </a:t>
            </a:r>
            <a:r>
              <a:rPr lang="en-IN" sz="1600" dirty="0" err="1"/>
              <a:t>analyze</a:t>
            </a:r>
            <a:r>
              <a:rPr lang="en-IN" sz="1600" dirty="0"/>
              <a:t> customer and loan-related attributes affecting credit risk.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 dirty="0"/>
              <a:t>To preprocess the dataset by: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Handling missing values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Removing unnecessary records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Encoding categorical data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Selecting relevant features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 dirty="0"/>
              <a:t>To perform </a:t>
            </a:r>
            <a:r>
              <a:rPr lang="en-IN" sz="1600" b="1" dirty="0"/>
              <a:t>Exploratory Data Analysis (EDA)</a:t>
            </a:r>
            <a:r>
              <a:rPr lang="en-IN" sz="1600" dirty="0"/>
              <a:t> to understand data patterns.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 dirty="0"/>
              <a:t>To apply different classification algorithms: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Logistic Regression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Decision Tree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Random Forest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Support Vector Machine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 dirty="0"/>
              <a:t>To compare models using: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Accuracy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Precision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Recall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F1-Score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sz="1600" dirty="0"/>
              <a:t>Confusion Matrix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sz="1600" dirty="0"/>
              <a:t>To select a suitable model for predicting the risk of new applicants.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8430559"/>
              </p:ext>
            </p:extLst>
          </p:nvPr>
        </p:nvGraphicFramePr>
        <p:xfrm>
          <a:off x="393290" y="689466"/>
          <a:ext cx="11524061" cy="53779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70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/>
                        <a:t>Hilal et al. [3]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Intelligent Epileptic Seizure Detection and Classification Model Using Optimal Deep Canonical Sparse Autoencoder, Biology, 2022 – MDPI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Coyote Optimization Algorithm(COA) for feature selection 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Krill Herd Algorithm (KHA) for parameter</a:t>
                      </a:r>
                    </a:p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tuning 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Deep Canonical Sparse Autoencoder for classification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Proposed an intelligent deep learning model for epileptic seizure detection using EEG signals. 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Achieved </a:t>
                      </a:r>
                      <a:r>
                        <a:rPr lang="en-IN" sz="1400" b="1" dirty="0"/>
                        <a:t>98.67% accuracy for binary classification</a:t>
                      </a:r>
                      <a:r>
                        <a:rPr lang="en-IN" sz="1400" dirty="0"/>
                        <a:t> and </a:t>
                      </a:r>
                      <a:r>
                        <a:rPr lang="en-IN" sz="1400" b="1" dirty="0"/>
                        <a:t>98.73% for multi-class classification</a:t>
                      </a:r>
                      <a:r>
                        <a:rPr lang="en-IN" sz="1400" dirty="0"/>
                        <a:t>.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Specific limitations of the proposed DCSAE-ESDC model were not clearly discussed. </a:t>
                      </a:r>
                      <a:br>
                        <a:rPr lang="en-IN" sz="1400" dirty="0"/>
                      </a:br>
                      <a:r>
                        <a:rPr lang="en-IN" sz="1400" dirty="0"/>
                        <a:t>• Further evaluation on larger and diverse benchmark datasets can improve generalization.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Lessmann et al. [4]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Benchmarking State-of-the-Art Classification Algorithms for Credit Scoring: An Update of Research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• Compared multiple machine learning classification algorithms for credit scoring. 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Machine learning algorithms can provide competitive performance for credit-risk prediction.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• Credit datasets may differ significantly across countries and financial institutions.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 err="1"/>
                        <a:t>Khandani</a:t>
                      </a:r>
                      <a:r>
                        <a:rPr lang="en-IN" sz="1400" dirty="0"/>
                        <a:t> et al. [5]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Consumer Credit-Risk Models via Machine-Learning Algorithms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• Applied machine learning algorithms to consumer credit-risk prediction.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• Machine learning can capture nonlinear relationships in consumer credit data.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/>
                        <a:t>Future research can incorporate additional </a:t>
                      </a:r>
                      <a:r>
                        <a:rPr lang="en-IN" sz="1400" dirty="0" err="1"/>
                        <a:t>behavioral</a:t>
                      </a:r>
                      <a:r>
                        <a:rPr lang="en-IN" sz="1400" dirty="0"/>
                        <a:t> and transaction-level features.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91DF2F-8A4F-E34F-D54D-4E3AEA4391E4}"/>
              </a:ext>
            </a:extLst>
          </p:cNvPr>
          <p:cNvSpPr txBox="1"/>
          <p:nvPr/>
        </p:nvSpPr>
        <p:spPr>
          <a:xfrm>
            <a:off x="1111045" y="1400133"/>
            <a:ext cx="924232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b="1" dirty="0"/>
          </a:p>
          <a:p>
            <a:pPr algn="just">
              <a:buNone/>
            </a:pPr>
            <a:r>
              <a:rPr lang="en-IN" b="1" dirty="0"/>
              <a:t>Existing Approach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Manual verification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Rule-based credit assessment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Time-consuming evaluation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Limited ability to identify complex patterns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Difficult to handle large amounts of customer data </a:t>
            </a:r>
          </a:p>
          <a:p>
            <a:pPr algn="just">
              <a:buNone/>
            </a:pPr>
            <a:r>
              <a:rPr lang="en-IN" b="1" dirty="0"/>
              <a:t>Identified Gap</a:t>
            </a:r>
            <a:endParaRPr lang="en-IN" dirty="0"/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Need for a more </a:t>
            </a:r>
            <a:r>
              <a:rPr lang="en-IN" b="1" dirty="0"/>
              <a:t>automated and data-driven approach</a:t>
            </a:r>
            <a:r>
              <a:rPr lang="en-IN" dirty="0"/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Need to </a:t>
            </a:r>
            <a:r>
              <a:rPr lang="en-IN" dirty="0" err="1"/>
              <a:t>analyze</a:t>
            </a:r>
            <a:r>
              <a:rPr lang="en-IN" dirty="0"/>
              <a:t> multiple customer and loan attributes together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Need to compare different machine learning models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Need for consistent risk classification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Need to evaluate models using multiple performance metrics </a:t>
            </a:r>
          </a:p>
          <a:p>
            <a:pPr algn="just">
              <a:buNone/>
            </a:pPr>
            <a:r>
              <a:rPr lang="en-IN" b="1" dirty="0"/>
              <a:t>Proposed Solution</a:t>
            </a:r>
          </a:p>
          <a:p>
            <a:pPr algn="just">
              <a:buNone/>
            </a:pPr>
            <a:r>
              <a:rPr lang="en-IN" dirty="0"/>
              <a:t>A machine learning-based system that processes historical customer and loan data and predicts:</a:t>
            </a:r>
          </a:p>
          <a:p>
            <a:pPr algn="just">
              <a:buNone/>
            </a:pPr>
            <a:r>
              <a:rPr lang="en-IN" b="1" dirty="0"/>
              <a:t>Low Risk | Medium Risk | High Risk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C67746B-C297-7E4A-F5F6-B8D9929A43FC}"/>
              </a:ext>
            </a:extLst>
          </p:cNvPr>
          <p:cNvSpPr txBox="1"/>
          <p:nvPr/>
        </p:nvSpPr>
        <p:spPr>
          <a:xfrm>
            <a:off x="1101212" y="1199733"/>
            <a:ext cx="998957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/>
              <a:t>Innovation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Uses a </a:t>
            </a:r>
            <a:r>
              <a:rPr lang="en-IN" b="1" dirty="0"/>
              <a:t>data science and machine learning approach</a:t>
            </a:r>
            <a:r>
              <a:rPr lang="en-IN" dirty="0"/>
              <a:t> for credit risk prediction.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Combines multiple customer and financial attributes for prediction.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Compares multiple classification algorithms. </a:t>
            </a:r>
          </a:p>
          <a:p>
            <a:pPr algn="just">
              <a:buNone/>
            </a:pPr>
            <a:r>
              <a:rPr lang="en-IN" b="1" dirty="0"/>
              <a:t>Creativity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Uses EDA to identify relationships and patterns in credit data.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Provides understandable risk categories: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Low Risk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Medium Risk</a:t>
            </a:r>
            <a:r>
              <a:rPr lang="en-IN" dirty="0"/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b="1" dirty="0"/>
              <a:t>High Risk</a:t>
            </a:r>
            <a:r>
              <a:rPr lang="en-IN" dirty="0"/>
              <a:t>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Uses multiple evaluation metrics rather than relying only on accuracy. </a:t>
            </a:r>
          </a:p>
          <a:p>
            <a:pPr algn="just">
              <a:buNone/>
            </a:pPr>
            <a:r>
              <a:rPr lang="en-IN" b="1" dirty="0"/>
              <a:t>Novelty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Integrated workflow from </a:t>
            </a:r>
            <a:r>
              <a:rPr lang="en-IN" b="1" dirty="0"/>
              <a:t>data preprocessing → EDA → feature selection → model training → evaluation → risk prediction</a:t>
            </a:r>
            <a:r>
              <a:rPr lang="en-IN" dirty="0"/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Model comparison helps identify the most suitable algorithm for the given dataset.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/>
              <a:t>The system is designed to support financial institutions in making more consistent lending decisions. 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359741" y="93785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784DF8-3AE7-395D-22A2-227AA2077B79}"/>
              </a:ext>
            </a:extLst>
          </p:cNvPr>
          <p:cNvSpPr txBox="1"/>
          <p:nvPr/>
        </p:nvSpPr>
        <p:spPr>
          <a:xfrm>
            <a:off x="751420" y="980792"/>
            <a:ext cx="1030003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Feasibility</a:t>
            </a:r>
          </a:p>
          <a:p>
            <a:r>
              <a:rPr lang="en-IN" sz="1600" b="1" dirty="0"/>
              <a:t>Technical Feasibility</a:t>
            </a:r>
            <a:endParaRPr lang="en-IN" sz="1600" dirty="0"/>
          </a:p>
          <a:p>
            <a:pPr lvl="0"/>
            <a:r>
              <a:rPr lang="en-IN" sz="1600" dirty="0"/>
              <a:t>Python and machine learning libraries can be used. </a:t>
            </a:r>
          </a:p>
          <a:p>
            <a:pPr lvl="0"/>
            <a:r>
              <a:rPr lang="en-IN" sz="1600" dirty="0"/>
              <a:t>Classification algorithms are suitable for credit risk prediction. </a:t>
            </a:r>
          </a:p>
          <a:p>
            <a:r>
              <a:rPr lang="en-IN" sz="1600" b="1" dirty="0"/>
              <a:t>Economic Feasibility</a:t>
            </a:r>
            <a:endParaRPr lang="en-IN" sz="1600" dirty="0"/>
          </a:p>
          <a:p>
            <a:pPr lvl="0"/>
            <a:r>
              <a:rPr lang="en-IN" sz="1600" dirty="0"/>
              <a:t>Uses open-source tools and libraries. </a:t>
            </a:r>
          </a:p>
          <a:p>
            <a:pPr lvl="0"/>
            <a:r>
              <a:rPr lang="en-IN" sz="1600" dirty="0"/>
              <a:t>Requires no expensive hardware. </a:t>
            </a:r>
          </a:p>
          <a:p>
            <a:r>
              <a:rPr lang="en-IN" sz="1600" b="1" dirty="0"/>
              <a:t>Operational Feasibility</a:t>
            </a:r>
            <a:endParaRPr lang="en-IN" sz="1600" dirty="0"/>
          </a:p>
          <a:p>
            <a:pPr lvl="0"/>
            <a:r>
              <a:rPr lang="en-IN" sz="1600" dirty="0"/>
              <a:t>Reduces manual effort in credit assessment. </a:t>
            </a:r>
          </a:p>
          <a:p>
            <a:pPr lvl="0"/>
            <a:r>
              <a:rPr lang="en-IN" sz="1600" dirty="0"/>
              <a:t>Provides consistent, data-driven risk predictions. </a:t>
            </a:r>
          </a:p>
          <a:p>
            <a:r>
              <a:rPr lang="en-IN" sz="1600" b="1" dirty="0"/>
              <a:t>Project Phases</a:t>
            </a:r>
          </a:p>
          <a:p>
            <a:r>
              <a:rPr lang="en-IN" sz="1600" b="1" dirty="0"/>
              <a:t>Phase 1 – Data Collection &amp; Preprocessing</a:t>
            </a:r>
            <a:br>
              <a:rPr lang="en-IN" sz="1600" dirty="0"/>
            </a:br>
            <a:r>
              <a:rPr lang="en-IN" sz="1600" dirty="0"/>
              <a:t>Collect dataset → Handle missing values → Encode data</a:t>
            </a:r>
          </a:p>
          <a:p>
            <a:r>
              <a:rPr lang="en-IN" sz="1600" b="1" dirty="0"/>
              <a:t>Phase 2 – EDA &amp; Feature Selection</a:t>
            </a:r>
            <a:br>
              <a:rPr lang="en-IN" sz="1600" dirty="0"/>
            </a:br>
            <a:r>
              <a:rPr lang="en-IN" sz="1600" dirty="0" err="1"/>
              <a:t>Analyze</a:t>
            </a:r>
            <a:r>
              <a:rPr lang="en-IN" sz="1600" dirty="0"/>
              <a:t> patterns → Visualize data → Select important features</a:t>
            </a:r>
          </a:p>
          <a:p>
            <a:r>
              <a:rPr lang="en-IN" sz="1600" b="1" dirty="0"/>
              <a:t>Phase 3 – Model Development</a:t>
            </a:r>
            <a:br>
              <a:rPr lang="en-IN" sz="1600" dirty="0"/>
            </a:br>
            <a:r>
              <a:rPr lang="en-IN" sz="1600" dirty="0"/>
              <a:t>Train Logistic Regression, Decision Tree, Random Forest &amp; SVM</a:t>
            </a:r>
          </a:p>
          <a:p>
            <a:r>
              <a:rPr lang="en-IN" sz="1600" b="1" dirty="0"/>
              <a:t>Phase 4 – Evaluation &amp; Prediction</a:t>
            </a:r>
            <a:br>
              <a:rPr lang="en-IN" sz="1600" dirty="0"/>
            </a:br>
            <a:r>
              <a:rPr lang="en-IN" sz="1600" dirty="0"/>
              <a:t>Compare models → Evaluate performance → Predict </a:t>
            </a:r>
            <a:r>
              <a:rPr lang="en-IN" sz="1600" b="1" dirty="0"/>
              <a:t>Low / Medium / High Risk</a:t>
            </a:r>
            <a:endParaRPr lang="en-IN" sz="1600" dirty="0"/>
          </a:p>
          <a:p>
            <a:r>
              <a:rPr lang="en-IN" sz="1600" b="1" dirty="0"/>
              <a:t>Project Flow</a:t>
            </a:r>
          </a:p>
          <a:p>
            <a:r>
              <a:rPr lang="en-IN" sz="1600" b="1" dirty="0"/>
              <a:t>Data → Preprocessing → EDA → Model Training → Evaluation → Risk Prediction</a:t>
            </a:r>
            <a:endParaRPr lang="en-IN" sz="1600" dirty="0"/>
          </a:p>
          <a:p>
            <a:pPr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2673C-1874-C3C0-5E1B-79B642050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        EXPECTED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2B096-5A5F-1AFE-BD84-2F316816C0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/>
            <a:r>
              <a:rPr lang="en-IN" dirty="0"/>
              <a:t>Identify important factors associated with credit risk. </a:t>
            </a:r>
          </a:p>
          <a:p>
            <a:pPr lvl="0" algn="just"/>
            <a:r>
              <a:rPr lang="en-IN" dirty="0"/>
              <a:t>Compare the performance of different classification algorithms. </a:t>
            </a:r>
          </a:p>
          <a:p>
            <a:pPr lvl="0" algn="just"/>
            <a:r>
              <a:rPr lang="en-IN" dirty="0"/>
              <a:t>Select the most suitable model based on evaluation metrics. </a:t>
            </a:r>
          </a:p>
          <a:p>
            <a:pPr lvl="0" algn="just"/>
            <a:r>
              <a:rPr lang="en-IN" dirty="0"/>
              <a:t>Predict the credit risk category of new applicants. </a:t>
            </a:r>
          </a:p>
          <a:p>
            <a:pPr lvl="0" algn="just"/>
            <a:r>
              <a:rPr lang="en-IN" dirty="0"/>
              <a:t>Reduce dependency on purely manual credit assessment. </a:t>
            </a:r>
          </a:p>
          <a:p>
            <a:pPr lvl="0" algn="just"/>
            <a:r>
              <a:rPr lang="en-IN" dirty="0"/>
              <a:t>Provide a consistent and data-driven approach to credit risk evaluation. </a:t>
            </a:r>
          </a:p>
          <a:p>
            <a:pPr algn="just"/>
            <a:r>
              <a:rPr lang="en-IN" b="1" dirty="0"/>
              <a:t>Evaluation Metrics:</a:t>
            </a:r>
            <a:endParaRPr lang="en-IN" dirty="0"/>
          </a:p>
          <a:p>
            <a:pPr algn="just"/>
            <a:r>
              <a:rPr lang="en-IN" b="1" dirty="0"/>
              <a:t>Accuracy | Precision | Recall | F1-Score | Confusion Matrix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2249E-8618-BDC4-A924-376DDB182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655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F2D68-1C37-DE32-1B74-16306808B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        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AF5F5-7AA8-2EF4-2CC5-EF4166DD0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algn="just"/>
            <a:r>
              <a:rPr lang="en-IN" b="1" dirty="0"/>
              <a:t>Conclusion</a:t>
            </a:r>
          </a:p>
          <a:p>
            <a:pPr lvl="0" algn="just"/>
            <a:r>
              <a:rPr lang="en-IN" dirty="0"/>
              <a:t>The Credit Risk Prediction System uses </a:t>
            </a:r>
            <a:r>
              <a:rPr lang="en-IN" b="1" dirty="0"/>
              <a:t>data science and machine learning</a:t>
            </a:r>
            <a:r>
              <a:rPr lang="en-IN" dirty="0"/>
              <a:t> to support credit assessment. </a:t>
            </a:r>
          </a:p>
          <a:p>
            <a:pPr lvl="0" algn="just"/>
            <a:r>
              <a:rPr lang="en-IN" dirty="0"/>
              <a:t>Customer and loan attributes are processed and </a:t>
            </a:r>
            <a:r>
              <a:rPr lang="en-IN" dirty="0" err="1"/>
              <a:t>analyzed</a:t>
            </a:r>
            <a:r>
              <a:rPr lang="en-IN" dirty="0"/>
              <a:t> to identify credit-risk patterns. </a:t>
            </a:r>
          </a:p>
          <a:p>
            <a:pPr lvl="0" algn="just"/>
            <a:r>
              <a:rPr lang="en-IN" dirty="0"/>
              <a:t>Multiple classification algorithms can be compared to select a suitable prediction model. </a:t>
            </a:r>
          </a:p>
          <a:p>
            <a:pPr lvl="0" algn="just"/>
            <a:r>
              <a:rPr lang="en-IN" dirty="0"/>
              <a:t>The system aims to classify applicants into </a:t>
            </a:r>
            <a:r>
              <a:rPr lang="en-IN" b="1" dirty="0"/>
              <a:t>Low, Medium, and High Risk</a:t>
            </a:r>
            <a:r>
              <a:rPr lang="en-IN" dirty="0"/>
              <a:t> categories. </a:t>
            </a:r>
          </a:p>
          <a:p>
            <a:pPr lvl="0" algn="just"/>
            <a:r>
              <a:rPr lang="en-IN" dirty="0"/>
              <a:t>It can help make credit assessment more </a:t>
            </a:r>
            <a:r>
              <a:rPr lang="en-IN" b="1" dirty="0"/>
              <a:t>consistent, efficient, and data-driven</a:t>
            </a:r>
            <a:r>
              <a:rPr lang="en-IN" dirty="0"/>
              <a:t>. </a:t>
            </a:r>
          </a:p>
          <a:p>
            <a:pPr algn="just"/>
            <a:r>
              <a:rPr lang="en-IN" b="1" dirty="0"/>
              <a:t>Future Work</a:t>
            </a:r>
          </a:p>
          <a:p>
            <a:pPr lvl="0" algn="just"/>
            <a:r>
              <a:rPr lang="en-IN" dirty="0"/>
              <a:t>Use larger and more diverse datasets. </a:t>
            </a:r>
          </a:p>
          <a:p>
            <a:pPr lvl="0" algn="just"/>
            <a:r>
              <a:rPr lang="en-IN" dirty="0"/>
              <a:t>Improve model performance through feature engineering and hyperparameter tuning. </a:t>
            </a:r>
          </a:p>
          <a:p>
            <a:pPr lvl="0" algn="just"/>
            <a:r>
              <a:rPr lang="en-IN" dirty="0"/>
              <a:t>Handle class imbalance more effectively. </a:t>
            </a:r>
          </a:p>
          <a:p>
            <a:pPr lvl="0" algn="just"/>
            <a:r>
              <a:rPr lang="en-IN" dirty="0"/>
              <a:t>Develop a user-friendly web-based interface. </a:t>
            </a:r>
          </a:p>
          <a:p>
            <a:pPr lvl="0" algn="just"/>
            <a:r>
              <a:rPr lang="en-IN" dirty="0"/>
              <a:t>Integrate explainable AI techniques to show why an applicant receives a particular risk category.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7755C-1896-62BF-3CB3-FEA09FA97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525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1041</Words>
  <Application>Microsoft Office PowerPoint</Application>
  <PresentationFormat>Widescreen</PresentationFormat>
  <Paragraphs>153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EXPECTED RESULTS</vt:lpstr>
      <vt:lpstr>         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madhurajagu78@outlook.com</cp:lastModifiedBy>
  <cp:revision>34</cp:revision>
  <dcterms:created xsi:type="dcterms:W3CDTF">2026-08-08T06:33:56Z</dcterms:created>
  <dcterms:modified xsi:type="dcterms:W3CDTF">2026-09-11T03:33:06Z</dcterms:modified>
</cp:coreProperties>
</file>